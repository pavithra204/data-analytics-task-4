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65A82"/>
                </a:solidFill>
                <a:latin typeface="Arial"/>
              </a:rPr>
              <a:t>Revenue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725458</c:v>
                </c:pt>
                <c:pt idx="1">
                  <c:v>678781</c:v>
                </c:pt>
                <c:pt idx="2">
                  <c:v>501240</c:v>
                </c:pt>
                <c:pt idx="3">
                  <c:v>391978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65A82"/>
                </a:solidFill>
                <a:latin typeface="Arial"/>
              </a:rPr>
              <a:t>Revenue by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347906</c:v>
                </c:pt>
                <c:pt idx="1">
                  <c:v>195897</c:v>
                </c:pt>
                <c:pt idx="2">
                  <c:v>125714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65A82"/>
                </a:solidFill>
                <a:latin typeface="Arial"/>
              </a:rPr>
              <a:t>Revenue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263116</c:v>
                </c:pt>
                <c:pt idx="1">
                  <c:v>206461</c:v>
                </c:pt>
                <c:pt idx="2">
                  <c:v>199940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 &amp; Statistical Validation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3657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| Kaggle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|  Python  |  Google Colab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Tracking, Segmentation, Hypothesis Testing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2468880" cy="292608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4871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3767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$230.77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4407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Pavithra Chittela | B.Tech CSE (AI &amp; ML) | Raghu Engineering College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all analysis into a compelling business narrative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02920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37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627632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Superstore Sales data to understand revenue drivers, customer segments, and regional performance to enable data-driven business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88720"/>
            <a:ext cx="502920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37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12801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7800" y="1627632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 metrics (Revenue, Orders, Customers, AOV), performed segmentation analysis across Consumer, Corporate &amp; Home Office segments and 3 product categories.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502920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74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0175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364992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drives 51.96% of revenue. Technology is the top category at $263K. West region leads all regions in sales volume and revenue.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26080"/>
            <a:ext cx="502920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474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30175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57800" y="3364992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Technology products, launch targeted campaigns for Home Office segment, and replicate West region strategies in underperforming South region.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Dashboard | Task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performance metrics from Power BI Dashboard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9659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SUM(Sales)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178308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889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overall revenue performance across all regions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14300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143000"/>
            <a:ext cx="196596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1704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42032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COUNTROWS(train)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42032" y="2743200"/>
            <a:ext cx="178308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27889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transaction volume shows strong demand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6864" y="114300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143000"/>
            <a:ext cx="19659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1704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6864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18304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DISTINCTCOUNT(Customer ID)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18304" y="2743200"/>
            <a:ext cx="178308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7889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Sizeable customer base with growth potential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03136" y="114300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1143000"/>
            <a:ext cx="19659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11704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3136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$230.77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94576" y="2423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Revenue / Orders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94576" y="2743200"/>
            <a:ext cx="178308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94576" y="27889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spend $231 per order on average</a:t>
            </a:r>
            <a:endParaRPr lang="en-US" sz="10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274320" y="3840480"/>
          <a:ext cx="859536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Shape 3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Dashboard | Task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Deep-Dive: Segmentation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vs product category revenue breakdown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389120" y="1097280"/>
          <a:ext cx="4480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977640"/>
            <a:ext cx="27432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274320" y="3977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= 51.96% of total revenue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27832" y="3977640"/>
            <a:ext cx="27432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27832" y="3977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all categories at $263K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81344" y="3977640"/>
            <a:ext cx="27432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181344" y="3977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is lowest at 18.78%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Dashboard | Task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— T-Test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Consumer and Corporate segment sales significantly different?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(Null):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and Corporate segments have the same average sales.     </a:t>
            </a:r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(Alt):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significantly different average sales.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11680"/>
            <a:ext cx="19659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2996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Avg Sales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$233.78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450592" y="20116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2011680"/>
            <a:ext cx="1965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02996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Avg Sales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2423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$228.38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626864" y="20116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2011680"/>
            <a:ext cx="19659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02996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26864" y="2423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803136" y="20116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2011680"/>
            <a:ext cx="19659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202996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03136" y="24231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859536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(0.63) &gt; 0.05 — Fail to Reject Null Hypothesis.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difference exists between Consumer and Corporate sales averages.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Interpretation: Both segments generate similar order values, suggesting pricing strategy and product mix should be similar for both segments. Focus on volume growth rather than price differentiation.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Dashboard | Task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— Chi-Square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significant relationship between Region and Customer Segment?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(Null):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Customer Segment are independent (no relationship).     </a:t>
            </a:r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(Alt):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Customer Segment are significantly related.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65960"/>
          <a:ext cx="5029200" cy="18288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Office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965960"/>
            <a:ext cx="320040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196596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Chi-Square: 5.92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77840" y="2624328"/>
            <a:ext cx="320040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77840" y="262432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0.43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77840" y="3282696"/>
            <a:ext cx="320040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77840" y="328269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Freedom: 6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(0.43) &gt; 0.05 — Fail to Reject Null Hypothesis.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Segment are independent — marketing strategy can be applied uniformly across regions.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Dashboard | Task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from data analysis and hypothesis testing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1078992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5720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2161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Consumer Segment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drives 51.96% of revenue. Launch loyalty programs and personalized campaigns to retain and grow this high-value segment.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078992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5720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463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2161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Technology Products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527048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highest revenue category at $263K across all segments. Increase inventory and marketing spend for tech products.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160520" cy="1078992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77440"/>
            <a:ext cx="45720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4505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Home Office Segment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761488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only 18.78%, Home Office has the most growth potential. Create targeted work-from-home bundles and promotions.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160520" cy="1078992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77440"/>
            <a:ext cx="45720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4505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Regional Strategy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761488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proves Region and Segment are independent (p=0.43). Apply the same marketing strategy across all 4 regions confidently.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4160520" cy="1078992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11880"/>
            <a:ext cx="45720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36850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Consistent Pricing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3995928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shows no significant sales difference between segments (p=0.63). Focus on order volume growth rather than price differentiation.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4160520" cy="1078992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11880"/>
            <a:ext cx="45720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57800" y="36850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West Region Success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3995928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leads with $725K revenue. Analyze West region practices and replicate them in the underperforming South region ($391K).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Dashboard | Task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88720"/>
            <a:ext cx="5029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88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08760" y="1188720"/>
            <a:ext cx="7040880" cy="457200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188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KPIs defined with DAX formulas in Power BI — Revenue, Orders, Customers, AOV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856232"/>
            <a:ext cx="5029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562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08760" y="1856232"/>
            <a:ext cx="7040880" cy="457200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18562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Analysis revealed Consumer segment and Technology category as top performers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523744"/>
            <a:ext cx="5029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237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508760" y="2523744"/>
            <a:ext cx="7040880" cy="457200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252374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T-Test: No significant sales difference between Consumer &amp; Corporate segments (p=0.63)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191256"/>
            <a:ext cx="5029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912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08760" y="3191256"/>
            <a:ext cx="7040880" cy="457200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319125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Chi-Square: Region and Segment are independent — uniform strategy works (p=0.43)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858768"/>
            <a:ext cx="5029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58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08760" y="3858768"/>
            <a:ext cx="7040880" cy="457200"/>
          </a:xfrm>
          <a:prstGeom prst="rect">
            <a:avLst/>
          </a:prstGeom>
          <a:solidFill>
            <a:srgbClr val="0D4A6B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385876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built with slicers for real-time business insights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Power BI  |  Python (scipy, pandas, matplotlib)  |  Google Colab  |  Kaggle Dataset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Chittela | B.Tech CSE (AI &amp; ML) | Raghu Engineering College, Visakhapatnam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Analytics - Data Story &amp; Hypothesis Testing</dc:title>
  <dc:subject>PptxGenJS Presentation</dc:subject>
  <dc:creator>PptxGenJS</dc:creator>
  <cp:lastModifiedBy>PptxGenJS</cp:lastModifiedBy>
  <cp:revision>1</cp:revision>
  <dcterms:created xsi:type="dcterms:W3CDTF">2026-02-20T14:32:02Z</dcterms:created>
  <dcterms:modified xsi:type="dcterms:W3CDTF">2026-02-20T14:32:02Z</dcterms:modified>
</cp:coreProperties>
</file>